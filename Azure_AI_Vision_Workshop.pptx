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24"/>
  </p:notesMasterIdLst>
  <p:handoutMasterIdLst>
    <p:handoutMasterId r:id="rId25"/>
  </p:handoutMasterIdLst>
  <p:sldIdLst>
    <p:sldId id="1862" r:id="rId6"/>
    <p:sldId id="1863" r:id="rId15"/>
    <p:sldId id="1864" r:id="rId16"/>
    <p:sldId id="1865" r:id="rId17"/>
    <p:sldId id="1866" r:id="rId18"/>
    <p:sldId id="1867" r:id="rId19"/>
    <p:sldId id="1868" r:id="rId20"/>
    <p:sldId id="1869" r:id="rId21"/>
    <p:sldId id="1870" r:id="rId22"/>
    <p:sldId id="1871" r:id="rId23"/>
    <p:sldId id="1872" r:id="rId1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Light Template" id="{A073DAE3-B461-442F-A3D3-6642BD875E45}">
          <p14:sldIdLst/>
        </p14:section>
        <p14:section name="Dark template" id="{888AB95E-1B7E-4E95-8F39-C5D0E8372BC2}">
          <p14:sldIdLst>
            <p14:sldId id="1862"/>
            <p14:sldId id="1860"/>
            <p14:sldId id="1865"/>
            <p14:sldId id="1868"/>
            <p14:sldId id="1825"/>
            <p14:sldId id="1826"/>
            <p14:sldId id="1869"/>
            <p14:sldId id="1827"/>
            <p14:sldId id="1828"/>
            <p14:sldId id="1829"/>
            <p14:sldId id="1861"/>
            <p14:sldId id="1842"/>
            <p14:sldId id="1854"/>
            <p14:sldId id="1855"/>
            <p14:sldId id="1856"/>
            <p14:sldId id="1838"/>
            <p14:sldId id="1839"/>
            <p14:sldId id="153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9DFF"/>
    <a:srgbClr val="E6E6E6"/>
    <a:srgbClr val="2F2F2F"/>
    <a:srgbClr val="F2F2F2"/>
    <a:srgbClr val="D2D2D2"/>
    <a:srgbClr val="5C2D91"/>
    <a:srgbClr val="00BCF2"/>
    <a:srgbClr val="0078D4"/>
    <a:srgbClr val="037BDA"/>
    <a:srgbClr val="1A1A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2E7436-30B0-4F51-868D-F529237ECD5B}" v="1" dt="2025-10-13T15:12:36.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04"/>
    <p:restoredTop sz="94701"/>
  </p:normalViewPr>
  <p:slideViewPr>
    <p:cSldViewPr snapToGrid="0">
      <p:cViewPr varScale="1">
        <p:scale>
          <a:sx n="62" d="100"/>
          <a:sy n="62" d="100"/>
        </p:scale>
        <p:origin x="176" y="228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14" Type="http://schemas.openxmlformats.org/officeDocument/2006/relationships/slide" Target="slides/slide1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12/28/25 1:58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12/28/25 1:58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t="35" b="35"/>
          <a:stretch/>
        </p:blipFill>
        <p:spPr>
          <a:xfrm>
            <a:off x="1" y="604414"/>
            <a:ext cx="12192000" cy="6253586"/>
          </a:xfrm>
          <a:prstGeom prst="rect">
            <a:avLst/>
          </a:prstGeom>
        </p:spPr>
      </p:pic>
      <p:pic>
        <p:nvPicPr>
          <p:cNvPr id="4" name="Picture 3">
            <a:extLst>
              <a:ext uri="{FF2B5EF4-FFF2-40B4-BE49-F238E27FC236}">
                <a16:creationId xmlns:a16="http://schemas.microsoft.com/office/drawing/2014/main" id="{732181C1-02C8-4170-8050-04F95DCD6088}"/>
              </a:ext>
            </a:extLst>
          </p:cNvPr>
          <p:cNvPicPr>
            <a:picLocks noChangeAspect="1"/>
          </p:cNvPicPr>
          <p:nvPr userDrawn="1"/>
        </p:nvPicPr>
        <p:blipFill>
          <a:blip r:embed="rId3"/>
          <a:srcRect/>
          <a:stretch/>
        </p:blipFill>
        <p:spPr>
          <a:xfrm>
            <a:off x="587376" y="597152"/>
            <a:ext cx="2132954" cy="399928"/>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206F3868-20C5-4830-B17D-6B8C97A93A75}"/>
              </a:ext>
            </a:extLst>
          </p:cNvPr>
          <p:cNvPicPr>
            <a:picLocks noChangeAspect="1"/>
          </p:cNvPicPr>
          <p:nvPr userDrawn="1"/>
        </p:nvPicPr>
        <p:blipFill>
          <a:blip r:embed="rId3"/>
          <a:srcRect/>
          <a:stretch/>
        </p:blipFill>
        <p:spPr>
          <a:xfrm>
            <a:off x="587376" y="597152"/>
            <a:ext cx="2132954" cy="399928"/>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6BD5228B-DB0F-46DB-85CA-145A3C2DDEDB}"/>
              </a:ext>
            </a:extLst>
          </p:cNvPr>
          <p:cNvPicPr>
            <a:picLocks noChangeAspect="1"/>
          </p:cNvPicPr>
          <p:nvPr userDrawn="1"/>
        </p:nvPicPr>
        <p:blipFill>
          <a:blip r:embed="rId2"/>
          <a:srcRect t="7" b="7"/>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8580" y="595948"/>
            <a:ext cx="2130545"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t="10" b="1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91AB4B28-A3CA-482A-991F-44606913488A}"/>
              </a:ext>
            </a:extLst>
          </p:cNvPr>
          <p:cNvPicPr>
            <a:picLocks noChangeAspect="1"/>
          </p:cNvPicPr>
          <p:nvPr userDrawn="1"/>
        </p:nvPicPr>
        <p:blipFill>
          <a:blip r:embed="rId3"/>
          <a:srcRect/>
          <a:stretch/>
        </p:blipFill>
        <p:spPr>
          <a:xfrm>
            <a:off x="588578" y="595948"/>
            <a:ext cx="2130550"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Picture 7">
            <a:extLst>
              <a:ext uri="{FF2B5EF4-FFF2-40B4-BE49-F238E27FC236}">
                <a16:creationId xmlns:a16="http://schemas.microsoft.com/office/drawing/2014/main" id="{57F79CA3-BB63-4315-8892-95BCB51C21DD}"/>
              </a:ext>
            </a:extLst>
          </p:cNvPr>
          <p:cNvPicPr>
            <a:picLocks noChangeAspect="1"/>
          </p:cNvPicPr>
          <p:nvPr userDrawn="1"/>
        </p:nvPicPr>
        <p:blipFill>
          <a:blip r:embed="rId2"/>
          <a:srcRect l="10" r="10"/>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8580" y="595948"/>
            <a:ext cx="2130545"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57F403-5530-4721-9A70-6AAA056C5EAE}"/>
              </a:ext>
            </a:extLst>
          </p:cNvPr>
          <p:cNvPicPr>
            <a:picLocks noChangeAspect="1"/>
          </p:cNvPicPr>
          <p:nvPr userDrawn="1"/>
        </p:nvPicPr>
        <p:blipFill>
          <a:blip r:embed="rId2"/>
          <a:srcRect t="10" b="1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57F403-5530-4721-9A70-6AAA056C5EAE}"/>
              </a:ext>
            </a:extLst>
          </p:cNvPr>
          <p:cNvPicPr>
            <a:picLocks noChangeAspect="1"/>
          </p:cNvPicPr>
          <p:nvPr userDrawn="1"/>
        </p:nvPicPr>
        <p:blipFill>
          <a:blip r:embed="rId2"/>
          <a:srcRect t="10" b="1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8580" y="595948"/>
            <a:ext cx="2130545"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97FDC0C-A1E0-42E3-A6E6-4DC516B1ECF5}"/>
              </a:ext>
            </a:extLst>
          </p:cNvPr>
          <p:cNvPicPr>
            <a:picLocks noChangeAspect="1"/>
          </p:cNvPicPr>
          <p:nvPr userDrawn="1"/>
        </p:nvPicPr>
        <p:blipFill>
          <a:blip r:embed="rId2"/>
          <a:srcRect t="10" b="1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793ABA5D-327F-422E-A0DB-8C1167D731A0}"/>
              </a:ext>
            </a:extLst>
          </p:cNvPr>
          <p:cNvPicPr>
            <a:picLocks noChangeAspect="1"/>
          </p:cNvPicPr>
          <p:nvPr userDrawn="1"/>
        </p:nvPicPr>
        <p:blipFill>
          <a:blip r:embed="rId3"/>
          <a:srcRect/>
          <a:stretch/>
        </p:blipFill>
        <p:spPr>
          <a:xfrm>
            <a:off x="588578" y="595948"/>
            <a:ext cx="2130550"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712E43-0ECA-47E9-BF15-501D117A36B8}"/>
              </a:ext>
            </a:extLst>
          </p:cNvPr>
          <p:cNvPicPr>
            <a:picLocks noChangeAspect="1"/>
          </p:cNvPicPr>
          <p:nvPr userDrawn="1"/>
        </p:nvPicPr>
        <p:blipFill>
          <a:blip r:embed="rId2"/>
          <a:srcRect/>
          <a:stretch/>
        </p:blipFill>
        <p:spPr>
          <a:xfrm>
            <a:off x="1" y="0"/>
            <a:ext cx="12191998"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a:blip r:embed="rId2"/>
          <a:srcRect l="10" r="10"/>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8580" y="595948"/>
            <a:ext cx="2130545"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90104" y="595948"/>
            <a:ext cx="2127497"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a:blip r:embed="rId2"/>
          <a:srcRect l="10" r="10"/>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90104" y="595948"/>
            <a:ext cx="2127497"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a:blip r:embed="rId2"/>
          <a:srcRect l="5" r="5"/>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a:blip r:embed="rId2"/>
          <a:srcRect l="5" r="5"/>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a:blip r:embed="rId2"/>
          <a:srcRect l="5" r="5"/>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a:blip r:embed="rId2"/>
          <a:srcRect l="16" r="16"/>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Click to add copy</a:t>
            </a:r>
          </a:p>
        </p:txBody>
      </p:sp>
      <p:pic>
        <p:nvPicPr>
          <p:cNvPr id="5" name="Picture 4">
            <a:extLst>
              <a:ext uri="{FF2B5EF4-FFF2-40B4-BE49-F238E27FC236}">
                <a16:creationId xmlns:a16="http://schemas.microsoft.com/office/drawing/2014/main" id="{1E6BB193-C413-474A-B507-F1AFD01D9B83}"/>
              </a:ext>
            </a:extLst>
          </p:cNvPr>
          <p:cNvPicPr>
            <a:picLocks noChangeAspect="1"/>
          </p:cNvPicPr>
          <p:nvPr userDrawn="1"/>
        </p:nvPicPr>
        <p:blipFill>
          <a:blip r:embed="rId2"/>
          <a:srcRect l="10" r="10"/>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30E47B-22FD-4E91-BA8B-26D94063CD57}"/>
              </a:ext>
            </a:extLst>
          </p:cNvPr>
          <p:cNvPicPr>
            <a:picLocks noChangeAspect="1"/>
          </p:cNvPicPr>
          <p:nvPr userDrawn="1"/>
        </p:nvPicPr>
        <p:blipFill>
          <a:blip r:embed="rId2"/>
          <a:srcRect l="10" r="10"/>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90104" y="595948"/>
            <a:ext cx="2127497"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7691AB-BE94-4B7B-8AA2-FA6630F3886A}"/>
              </a:ext>
            </a:extLst>
          </p:cNvPr>
          <p:cNvPicPr>
            <a:picLocks noChangeAspect="1"/>
          </p:cNvPicPr>
          <p:nvPr userDrawn="1"/>
        </p:nvPicPr>
        <p:blipFill>
          <a:blip r:embed="rId2"/>
          <a:srcRect l="10" r="10"/>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90104" y="595948"/>
            <a:ext cx="2127497"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Relationship Id="rId17" Type="http://schemas.openxmlformats.org/officeDocument/2006/relationships/slideLayout" Target="../slideLayouts/slideLayout49.xml"/><Relationship Id="rId18" Type="http://schemas.openxmlformats.org/officeDocument/2006/relationships/slideLayout" Target="../slideLayouts/slideLayout50.xml"/><Relationship Id="rId19" Type="http://schemas.openxmlformats.org/officeDocument/2006/relationships/slideLayout" Target="../slideLayouts/slideLayout51.xml"/><Relationship Id="rId20" Type="http://schemas.openxmlformats.org/officeDocument/2006/relationships/slideLayout" Target="../slideLayouts/slideLayout52.xml"/><Relationship Id="rId21" Type="http://schemas.openxmlformats.org/officeDocument/2006/relationships/slideLayout" Target="../slideLayouts/slideLayout53.xml"/><Relationship Id="rId22" Type="http://schemas.openxmlformats.org/officeDocument/2006/relationships/slideLayout" Target="../slideLayouts/slideLayout54.xml"/><Relationship Id="rId23" Type="http://schemas.openxmlformats.org/officeDocument/2006/relationships/slideLayout" Target="../slideLayouts/slideLayout55.xml"/><Relationship Id="rId24" Type="http://schemas.openxmlformats.org/officeDocument/2006/relationships/slideLayout" Target="../slideLayouts/slideLayout56.xml"/><Relationship Id="rId25" Type="http://schemas.openxmlformats.org/officeDocument/2006/relationships/slideLayout" Target="../slideLayouts/slideLayout57.xml"/><Relationship Id="rId26" Type="http://schemas.openxmlformats.org/officeDocument/2006/relationships/slideLayout" Target="../slideLayouts/slideLayout58.xml"/><Relationship Id="rId27" Type="http://schemas.openxmlformats.org/officeDocument/2006/relationships/slideLayout" Target="../slideLayouts/slideLayout59.xml"/><Relationship Id="rId28" Type="http://schemas.openxmlformats.org/officeDocument/2006/relationships/slideLayout" Target="../slideLayouts/slideLayout60.xml"/><Relationship Id="rId29" Type="http://schemas.openxmlformats.org/officeDocument/2006/relationships/slideLayout" Target="../slideLayouts/slideLayout61.xml"/><Relationship Id="rId30" Type="http://schemas.openxmlformats.org/officeDocument/2006/relationships/slideLayout" Target="../slideLayouts/slideLayout62.xml"/><Relationship Id="rId31" Type="http://schemas.openxmlformats.org/officeDocument/2006/relationships/theme" Target="../theme/theme2.xml"/><Relationship Id="rId3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801444"/>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an AI-Powered Image Analyzer</a:t>
            </a:r>
          </a:p>
        </p:txBody>
      </p:sp>
      <p:sp>
        <p:nvSpPr>
          <p:cNvPr id="3" name="Text Placeholder 2"/>
          <p:cNvSpPr>
            <a:spLocks noGrp="1"/>
          </p:cNvSpPr>
          <p:nvPr>
            <p:ph type="body" idx="12" sz="quarter"/>
          </p:nvPr>
        </p:nvSpPr>
        <p:spPr/>
        <p:txBody>
          <a:bodyPr/>
          <a:lstStyle/>
          <a:p>
            <a:r>
              <a:t>Azure AI Vision Workshop | Microsoft Student Ambassadors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0" sz="quarter"/>
          </p:nvPr>
        </p:nvSpPr>
        <p:spPr/>
        <p:txBody>
          <a:bodyPr/>
          <a:lstStyle/>
          <a:p>
            <a:pPr>
              <a:defRPr sz="1800"/>
            </a:pPr>
            <a:r>
              <a:t>What We'll Cover Today</a:t>
            </a:r>
          </a:p>
          <a:p>
            <a:pPr>
              <a:defRPr sz="1800"/>
            </a:pPr>
          </a:p>
          <a:p>
            <a:pPr>
              <a:defRPr sz="1800"/>
            </a:pPr>
            <a:r>
              <a:t>- Introduction to Azure AI Vision (5 min)</a:t>
            </a:r>
          </a:p>
          <a:p>
            <a:pPr>
              <a:defRPr sz="1800"/>
            </a:pPr>
            <a:r>
              <a:t>- Key Features &amp; Use Cases (3 min)</a:t>
            </a:r>
          </a:p>
          <a:p>
            <a:pPr>
              <a:defRPr sz="1800"/>
            </a:pPr>
            <a:r>
              <a:t>- Live Demo: Build an Image Analyzer (20 min)</a:t>
            </a:r>
          </a:p>
          <a:p>
            <a:pPr>
              <a:defRPr sz="1800"/>
            </a:pPr>
            <a:r>
              <a:t>- Q&amp;A (2 min)</a:t>
            </a:r>
          </a:p>
          <a:p>
            <a:pPr>
              <a:defRPr sz="1800"/>
            </a:pPr>
          </a:p>
          <a:p>
            <a:pPr>
              <a:defRPr sz="1800"/>
            </a:pPr>
            <a:r>
              <a:t>By the end, you'll be able to:</a:t>
            </a:r>
          </a:p>
          <a:p>
            <a:pPr>
              <a:defRPr sz="1800"/>
            </a:pPr>
            <a:r>
              <a:t>- Set up Azure AI Vision from scratch</a:t>
            </a:r>
          </a:p>
          <a:p>
            <a:pPr>
              <a:defRPr sz="1800"/>
            </a:pPr>
            <a:r>
              <a:t>- Build a working image analyzer app</a:t>
            </a:r>
          </a:p>
          <a:p>
            <a:pPr>
              <a:defRPr sz="1800"/>
            </a:pPr>
            <a:r>
              <a:t>- Extract text, detect objects, and generate captions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Azure AI Vision?</a:t>
            </a:r>
          </a:p>
        </p:txBody>
      </p:sp>
      <p:sp>
        <p:nvSpPr>
          <p:cNvPr id="3" name="Text Placeholder 2"/>
          <p:cNvSpPr>
            <a:spLocks noGrp="1"/>
          </p:cNvSpPr>
          <p:nvPr>
            <p:ph type="body" idx="10" sz="quarter"/>
          </p:nvPr>
        </p:nvSpPr>
        <p:spPr/>
        <p:txBody>
          <a:bodyPr/>
          <a:lstStyle/>
          <a:p>
            <a:pPr>
              <a:defRPr sz="1800"/>
            </a:pPr>
            <a:r>
              <a:t>Cloud-based AI service that analyzes images and extracts information</a:t>
            </a:r>
          </a:p>
          <a:p>
            <a:pPr>
              <a:defRPr sz="1800"/>
            </a:pPr>
          </a:p>
          <a:p>
            <a:pPr>
              <a:defRPr sz="1800"/>
            </a:pPr>
            <a:r>
              <a:t>Part of: Microsoft Foundry Tools (Azure AI Services)</a:t>
            </a:r>
          </a:p>
          <a:p>
            <a:pPr>
              <a:defRPr sz="1800"/>
            </a:pPr>
          </a:p>
          <a:p>
            <a:pPr>
              <a:defRPr sz="1800"/>
            </a:pPr>
            <a:r>
              <a:t>Key Capabilities:</a:t>
            </a:r>
          </a:p>
          <a:p>
            <a:pPr>
              <a:defRPr sz="1800"/>
            </a:pPr>
            <a:r>
              <a:t>- Read and extract text from images (OCR)</a:t>
            </a:r>
          </a:p>
          <a:p>
            <a:pPr>
              <a:defRPr sz="1800"/>
            </a:pPr>
            <a:r>
              <a:t>- Detect and identify objects in photos</a:t>
            </a:r>
          </a:p>
          <a:p>
            <a:pPr>
              <a:defRPr sz="1800"/>
            </a:pPr>
            <a:r>
              <a:t>- Generate human-like image descriptions</a:t>
            </a:r>
          </a:p>
          <a:p>
            <a:pPr>
              <a:defRPr sz="1800"/>
            </a:pPr>
            <a:r>
              <a:t>- Analyze image content and metadata</a:t>
            </a:r>
          </a:p>
          <a:p>
            <a:pPr>
              <a:defRPr sz="1800"/>
            </a:pPr>
          </a:p>
          <a:p>
            <a:pPr>
              <a:defRPr sz="1800"/>
            </a:pPr>
            <a:r>
              <a:t>Pricing: Free tier available!</a:t>
            </a:r>
          </a:p>
          <a:p>
            <a:pPr>
              <a:defRPr sz="1800"/>
            </a:pPr>
            <a:r>
              <a:t>- 20 calls/minute</a:t>
            </a:r>
          </a:p>
          <a:p>
            <a:pPr>
              <a:defRPr sz="1800"/>
            </a:pPr>
            <a:r>
              <a:t>- 5,000 calls/month</a:t>
            </a:r>
          </a:p>
          <a:p>
            <a:pPr>
              <a:defRPr sz="1800"/>
            </a:pPr>
          </a:p>
          <a:p>
            <a:pPr>
              <a:defRPr sz="1800"/>
            </a:pPr>
            <a:r>
              <a:t>learn.microsoft.com/azure/ai-services/computer-vision/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a:t>
            </a:r>
          </a:p>
        </p:txBody>
      </p:sp>
      <p:sp>
        <p:nvSpPr>
          <p:cNvPr id="3" name="Text Placeholder 2"/>
          <p:cNvSpPr>
            <a:spLocks noGrp="1"/>
          </p:cNvSpPr>
          <p:nvPr>
            <p:ph type="body" idx="10" sz="quarter"/>
          </p:nvPr>
        </p:nvSpPr>
        <p:spPr/>
        <p:txBody>
          <a:bodyPr/>
          <a:lstStyle/>
          <a:p>
            <a:pPr>
              <a:defRPr sz="1800"/>
            </a:pPr>
            <a:r>
              <a:t>OCR (Read)</a:t>
            </a:r>
          </a:p>
          <a:p>
            <a:pPr>
              <a:defRPr sz="1800"/>
            </a:pPr>
            <a:r>
              <a:t>Extract printed &amp; handwritten text - scan receipts, documents, signs</a:t>
            </a:r>
          </a:p>
          <a:p>
            <a:pPr>
              <a:defRPr sz="1800"/>
            </a:pPr>
          </a:p>
          <a:p>
            <a:pPr>
              <a:defRPr sz="1800"/>
            </a:pPr>
            <a:r>
              <a:t>Image Captions</a:t>
            </a:r>
          </a:p>
          <a:p>
            <a:pPr>
              <a:defRPr sz="1800"/>
            </a:pPr>
            <a:r>
              <a:t>Generate natural language descriptions - "A dog playing in the park"</a:t>
            </a:r>
          </a:p>
          <a:p>
            <a:pPr>
              <a:defRPr sz="1800"/>
            </a:pPr>
          </a:p>
          <a:p>
            <a:pPr>
              <a:defRPr sz="1800"/>
            </a:pPr>
            <a:r>
              <a:t>Object Detection</a:t>
            </a:r>
          </a:p>
          <a:p>
            <a:pPr>
              <a:defRPr sz="1800"/>
            </a:pPr>
            <a:r>
              <a:t>Identify objects with bounding boxes - find all cars in a parking lot</a:t>
            </a:r>
          </a:p>
          <a:p>
            <a:pPr>
              <a:defRPr sz="1800"/>
            </a:pPr>
          </a:p>
          <a:p>
            <a:pPr>
              <a:defRPr sz="1800"/>
            </a:pPr>
            <a:r>
              <a:t>Smart Tags</a:t>
            </a:r>
          </a:p>
          <a:p>
            <a:pPr>
              <a:defRPr sz="1800"/>
            </a:pPr>
            <a:r>
              <a:t>Label images with keywords - ["outdoor", "nature", "sunny"]</a:t>
            </a:r>
          </a:p>
          <a:p>
            <a:pPr>
              <a:defRPr sz="1800"/>
            </a:pPr>
          </a:p>
          <a:p>
            <a:pPr>
              <a:defRPr sz="1800"/>
            </a:pPr>
            <a:r>
              <a:t>Dense Captions</a:t>
            </a:r>
          </a:p>
          <a:p>
            <a:pPr>
              <a:defRPr sz="1800"/>
            </a:pPr>
            <a:r>
              <a:t>Multiple captions for different regions of an image</a:t>
            </a:r>
          </a:p>
          <a:p>
            <a:pPr>
              <a:defRPr sz="1800"/>
            </a:pPr>
          </a:p>
          <a:p>
            <a:pPr>
              <a:defRPr sz="1800"/>
            </a:pPr>
            <a:r>
              <a:t>People Detection</a:t>
            </a:r>
          </a:p>
          <a:p>
            <a:pPr>
              <a:defRPr sz="1800"/>
            </a:pPr>
            <a:r>
              <a:t>Detect people and their positions in photos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Use Cases</a:t>
            </a:r>
          </a:p>
        </p:txBody>
      </p:sp>
      <p:sp>
        <p:nvSpPr>
          <p:cNvPr id="3" name="Text Placeholder 2"/>
          <p:cNvSpPr>
            <a:spLocks noGrp="1"/>
          </p:cNvSpPr>
          <p:nvPr>
            <p:ph type="body" idx="10" sz="quarter"/>
          </p:nvPr>
        </p:nvSpPr>
        <p:spPr/>
        <p:txBody>
          <a:bodyPr/>
          <a:lstStyle/>
          <a:p>
            <a:pPr>
              <a:defRPr sz="1800"/>
            </a:pPr>
            <a:r>
              <a:t>Accessibility</a:t>
            </a:r>
          </a:p>
          <a:p>
            <a:pPr>
              <a:defRPr sz="1800"/>
            </a:pPr>
            <a:r>
              <a:t>- Screen readers describing images for visually impaired users</a:t>
            </a:r>
          </a:p>
          <a:p>
            <a:pPr>
              <a:defRPr sz="1800"/>
            </a:pPr>
            <a:r>
              <a:t>- Alt-text generation for websites</a:t>
            </a:r>
          </a:p>
          <a:p>
            <a:pPr>
              <a:defRPr sz="1800"/>
            </a:pPr>
          </a:p>
          <a:p>
            <a:pPr>
              <a:defRPr sz="1800"/>
            </a:pPr>
            <a:r>
              <a:t>Retail &amp; E-commerce</a:t>
            </a:r>
          </a:p>
          <a:p>
            <a:pPr>
              <a:defRPr sz="1800"/>
            </a:pPr>
            <a:r>
              <a:t>- Product image tagging</a:t>
            </a:r>
          </a:p>
          <a:p>
            <a:pPr>
              <a:defRPr sz="1800"/>
            </a:pPr>
            <a:r>
              <a:t>- Visual search ("find similar items")</a:t>
            </a:r>
          </a:p>
          <a:p>
            <a:pPr>
              <a:defRPr sz="1800"/>
            </a:pPr>
          </a:p>
          <a:p>
            <a:pPr>
              <a:defRPr sz="1800"/>
            </a:pPr>
            <a:r>
              <a:t>Document Processing</a:t>
            </a:r>
          </a:p>
          <a:p>
            <a:pPr>
              <a:defRPr sz="1800"/>
            </a:pPr>
            <a:r>
              <a:t>- Digitize paper documents</a:t>
            </a:r>
          </a:p>
          <a:p>
            <a:pPr>
              <a:defRPr sz="1800"/>
            </a:pPr>
            <a:r>
              <a:t>- Extract data from forms and receipts</a:t>
            </a:r>
          </a:p>
          <a:p>
            <a:pPr>
              <a:defRPr sz="1800"/>
            </a:pPr>
          </a:p>
          <a:p>
            <a:pPr>
              <a:defRPr sz="1800"/>
            </a:pPr>
            <a:r>
              <a:t>Security &amp; Surveillance</a:t>
            </a:r>
          </a:p>
          <a:p>
            <a:pPr>
              <a:defRPr sz="1800"/>
            </a:pPr>
            <a:r>
              <a:t>- Object detection in security feeds</a:t>
            </a:r>
          </a:p>
          <a:p>
            <a:pPr>
              <a:defRPr sz="1800"/>
            </a:pPr>
            <a:r>
              <a:t>- License plate recognition</a:t>
            </a:r>
          </a:p>
          <a:p>
            <a:pPr>
              <a:defRPr sz="1800"/>
            </a:pPr>
          </a:p>
          <a:p>
            <a:pPr>
              <a:defRPr sz="1800"/>
            </a:pPr>
            <a:r>
              <a:t>Social Media</a:t>
            </a:r>
          </a:p>
          <a:p>
            <a:pPr>
              <a:defRPr sz="1800"/>
            </a:pPr>
            <a:r>
              <a:t>- Content moderation</a:t>
            </a:r>
          </a:p>
          <a:p>
            <a:pPr>
              <a:defRPr sz="1800"/>
            </a:pPr>
            <a:r>
              <a:t>- Auto-tagging photos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We'll Build</a:t>
            </a:r>
          </a:p>
        </p:txBody>
      </p:sp>
      <p:sp>
        <p:nvSpPr>
          <p:cNvPr id="3" name="Text Placeholder 2"/>
          <p:cNvSpPr>
            <a:spLocks noGrp="1"/>
          </p:cNvSpPr>
          <p:nvPr>
            <p:ph type="body" idx="10" sz="quarter"/>
          </p:nvPr>
        </p:nvSpPr>
        <p:spPr/>
        <p:txBody>
          <a:bodyPr/>
          <a:lstStyle/>
          <a:p>
            <a:pPr>
              <a:defRPr sz="1800"/>
            </a:pPr>
            <a:r>
              <a:t>A Streamlit web app that:</a:t>
            </a:r>
          </a:p>
          <a:p>
            <a:pPr>
              <a:defRPr sz="1800"/>
            </a:pPr>
          </a:p>
          <a:p>
            <a:pPr>
              <a:defRPr sz="1800"/>
            </a:pPr>
            <a:r>
              <a:t>1. Accepts image upload or URL</a:t>
            </a:r>
          </a:p>
          <a:p>
            <a:pPr>
              <a:defRPr sz="1800"/>
            </a:pPr>
            <a:r>
              <a:t>2. Sends image to Azure AI Vision API</a:t>
            </a:r>
          </a:p>
          <a:p>
            <a:pPr>
              <a:defRPr sz="1800"/>
            </a:pPr>
            <a:r>
              <a:t>3. Displays results:</a:t>
            </a:r>
          </a:p>
          <a:p>
            <a:pPr>
              <a:defRPr sz="1800"/>
            </a:pPr>
            <a:r>
              <a:t>   - Generated caption</a:t>
            </a:r>
          </a:p>
          <a:p>
            <a:pPr>
              <a:defRPr sz="1800"/>
            </a:pPr>
            <a:r>
              <a:t>   - Detected objects with bounding boxes</a:t>
            </a:r>
          </a:p>
          <a:p>
            <a:pPr>
              <a:defRPr sz="1800"/>
            </a:pPr>
            <a:r>
              <a:t>   - Extracted text (OCR)</a:t>
            </a:r>
          </a:p>
          <a:p>
            <a:pPr>
              <a:defRPr sz="1800"/>
            </a:pPr>
            <a:r>
              <a:t>   - Smart tags</a:t>
            </a:r>
          </a:p>
          <a:p>
            <a:pPr>
              <a:defRPr sz="1800"/>
            </a:pPr>
          </a:p>
          <a:p>
            <a:pPr>
              <a:defRPr sz="1800"/>
            </a:pPr>
            <a:r>
              <a:t>Tech Stack:</a:t>
            </a:r>
          </a:p>
          <a:p>
            <a:pPr>
              <a:defRPr sz="1800"/>
            </a:pPr>
            <a:r>
              <a:t>- Python 3.10+</a:t>
            </a:r>
          </a:p>
          <a:p>
            <a:pPr>
              <a:defRPr sz="1800"/>
            </a:pPr>
            <a:r>
              <a:t>- Streamlit (Web UI)</a:t>
            </a:r>
          </a:p>
          <a:p>
            <a:pPr>
              <a:defRPr sz="1800"/>
            </a:pPr>
            <a:r>
              <a:t>- Azure AI Vision SDK</a:t>
            </a:r>
          </a:p>
          <a:p>
            <a:pPr>
              <a:defRPr sz="1800"/>
            </a:pPr>
            <a:r>
              <a:t>- ~50 lines of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a:t>
            </a:r>
          </a:p>
        </p:txBody>
      </p:sp>
      <p:sp>
        <p:nvSpPr>
          <p:cNvPr id="3" name="Text Placeholder 2"/>
          <p:cNvSpPr>
            <a:spLocks noGrp="1"/>
          </p:cNvSpPr>
          <p:nvPr>
            <p:ph type="body" idx="12" sz="quarter"/>
          </p:nvPr>
        </p:nvSpPr>
        <p:spPr/>
        <p:txBody>
          <a:bodyPr/>
          <a:lstStyle/>
          <a:p>
            <a:r>
              <a:t>Let's build it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 &amp; Next Steps</a:t>
            </a:r>
          </a:p>
        </p:txBody>
      </p:sp>
      <p:sp>
        <p:nvSpPr>
          <p:cNvPr id="3" name="Text Placeholder 2"/>
          <p:cNvSpPr>
            <a:spLocks noGrp="1"/>
          </p:cNvSpPr>
          <p:nvPr>
            <p:ph type="body" idx="10" sz="quarter"/>
          </p:nvPr>
        </p:nvSpPr>
        <p:spPr/>
        <p:txBody>
          <a:bodyPr/>
          <a:lstStyle/>
          <a:p>
            <a:pPr>
              <a:defRPr sz="1800"/>
            </a:pPr>
            <a:r>
              <a:t>Official Documentation</a:t>
            </a:r>
          </a:p>
          <a:p>
            <a:pPr>
              <a:defRPr sz="1800"/>
            </a:pPr>
            <a:r>
              <a:t>learn.microsoft.com/azure/ai-services/computer-vision/</a:t>
            </a:r>
          </a:p>
          <a:p>
            <a:pPr>
              <a:defRPr sz="1800"/>
            </a:pPr>
          </a:p>
          <a:p>
            <a:pPr>
              <a:defRPr sz="1800"/>
            </a:pPr>
            <a:r>
              <a:t>Microsoft Learn Path</a:t>
            </a:r>
          </a:p>
          <a:p>
            <a:pPr>
              <a:defRPr sz="1800"/>
            </a:pPr>
            <a:r>
              <a:t>learn.microsoft.com/training/paths/create-computer-vision-solutions-azure-ai/</a:t>
            </a:r>
          </a:p>
          <a:p>
            <a:pPr>
              <a:defRPr sz="1800"/>
            </a:pPr>
          </a:p>
          <a:p>
            <a:pPr>
              <a:defRPr sz="1800"/>
            </a:pPr>
            <a:r>
              <a:t>Certifications</a:t>
            </a:r>
          </a:p>
          <a:p>
            <a:pPr>
              <a:defRPr sz="1800"/>
            </a:pPr>
            <a:r>
              <a:t>- AI-102: Azure AI Engineer Associate</a:t>
            </a:r>
          </a:p>
          <a:p>
            <a:pPr>
              <a:defRPr sz="1800"/>
            </a:pPr>
            <a:r>
              <a:t>- AI-900: Azure AI Fundamentals</a:t>
            </a:r>
          </a:p>
          <a:p>
            <a:pPr>
              <a:defRPr sz="1800"/>
            </a:pPr>
          </a:p>
          <a:p>
            <a:pPr>
              <a:defRPr sz="1800"/>
            </a:pPr>
            <a:r>
              <a:t>Code from Today</a:t>
            </a:r>
          </a:p>
          <a:p>
            <a:pPr>
              <a:defRPr sz="1800"/>
            </a:pPr>
            <a:r>
              <a:t>github.com/[your-repo]</a:t>
            </a:r>
          </a:p>
          <a:p>
            <a:pPr>
              <a:defRPr sz="1800"/>
            </a:pPr>
          </a:p>
          <a:p>
            <a:pPr>
              <a:defRPr sz="1800"/>
            </a:pPr>
            <a:r>
              <a:t>Questions? Let's connect!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Q&amp;A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Steve Crawford (Collabera)</DisplayName>
        <AccountId>772</AccountId>
        <AccountType/>
      </UserInfo>
    </SharedWithUsers>
    <lcf76f155ced4ddcb4097134ff3c332f xmlns="b38ad2e8-7385-42ac-a943-76e9ea801cf0">
      <Terms xmlns="http://schemas.microsoft.com/office/infopath/2007/PartnerControls"/>
    </lcf76f155ced4ddcb4097134ff3c332f>
    <TaxCatchAll xmlns="211ea7d1-7d09-49a0-8c96-644562ad20a0" xsi:nil="true"/>
    <MediaLengthInSeconds xmlns="b38ad2e8-7385-42ac-a943-76e9ea801cf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15" ma:contentTypeDescription="Create a new document." ma:contentTypeScope="" ma:versionID="76fd0cb1433b6b795f79a99bcf638f94">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cc1a838bf31f1e772520fd3ce2d1ad1f"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1472b233-b75e-480f-895d-2146ed98f06a"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cd28537-066f-45e0-9d5d-92c5d9db2510}" ma:internalName="TaxCatchAll" ma:showField="CatchAllData" ma:web="211ea7d1-7d09-49a0-8c96-644562ad20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211ea7d1-7d09-49a0-8c96-644562ad20a0"/>
    <ds:schemaRef ds:uri="b38ad2e8-7385-42ac-a943-76e9ea801c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D94F210-A894-4561-8C89-A2786083C100}">
  <ds:schemaRefs>
    <ds:schemaRef ds:uri="211ea7d1-7d09-49a0-8c96-644562ad20a0"/>
    <ds:schemaRef ds:uri="b38ad2e8-7385-42ac-a943-76e9ea801c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0</TotalTime>
  <Words>1351</Words>
  <Application>Microsoft Macintosh PowerPoint</Application>
  <PresentationFormat>Widescreen</PresentationFormat>
  <Paragraphs>152</Paragraphs>
  <Slides>18</Slides>
  <Notes>17</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Arial</vt:lpstr>
      <vt:lpstr>Consolas</vt:lpstr>
      <vt:lpstr>Segoe UI</vt:lpstr>
      <vt:lpstr>Segoe UI Light</vt:lpstr>
      <vt:lpstr>Segoe UI Semibold</vt:lpstr>
      <vt:lpstr>Segoe UI Semilight</vt:lpstr>
      <vt:lpstr>Wingdings</vt:lpstr>
      <vt:lpstr>WHITE TEMPLATE</vt:lpstr>
      <vt:lpstr>SOFT BLACK TEMPLATE</vt:lpstr>
      <vt:lpstr>PowerPoint Presentation</vt:lpstr>
      <vt:lpstr>PowerPoint Presentation</vt:lpstr>
      <vt:lpstr>Event name or presentation title</vt:lpstr>
      <vt:lpstr>Event name or presentation title</vt:lpstr>
      <vt:lpstr>Text layout (without bullet points)</vt:lpstr>
      <vt:lpstr>Text layout with bulleted text</vt:lpstr>
      <vt:lpstr>Text layout with bulleted text</vt:lpstr>
      <vt:lpstr>Example with longer headline text wrapping to a second line</vt:lpstr>
      <vt:lpstr>Adjusting list levels</vt:lpstr>
      <vt:lpstr>Bullet points layout with subtitle Set the subtitle to 20pt in the same text block, with character spacing Normal</vt:lpstr>
      <vt:lpstr>Slide palette info</vt:lpstr>
      <vt:lpstr>Creating accessible content</vt:lpstr>
      <vt:lpstr>Demo</vt:lpstr>
      <vt:lpstr>Video</vt:lpstr>
      <vt:lpstr>Section title</vt:lpstr>
      <vt:lpstr>Software code slide</vt:lpstr>
      <vt:lpstr>Notes (hidden)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Jainal Gosaliya</cp:lastModifiedBy>
  <cp:revision>3</cp:revision>
  <dcterms:created xsi:type="dcterms:W3CDTF">2019-03-28T18:40:02Z</dcterms:created>
  <dcterms:modified xsi:type="dcterms:W3CDTF">2025-12-28T19:04:45Z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y fmtid="{D5CDD505-2E9C-101B-9397-08002B2CF9AE}" pid="21" name="Order">
    <vt:r8>728100</vt:r8>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_ExtendedDescription">
    <vt:lpwstr/>
  </property>
  <property fmtid="{D5CDD505-2E9C-101B-9397-08002B2CF9AE}" pid="26" name="TriggerFlowInfo">
    <vt:lpwstr/>
  </property>
  <property fmtid="{D5CDD505-2E9C-101B-9397-08002B2CF9AE}" pid="27" name="xd_Signature">
    <vt:bool>false</vt:bool>
  </property>
</Properties>
</file>